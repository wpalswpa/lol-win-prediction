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20000" y="1224000"/>
            <a:ext cx="504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1000" b="1">
                <a:solidFill>
                  <a:srgbClr val="F0F3F9"/>
                </a:solidFill>
                <a:latin typeface="맑은 고딕"/>
              </a:rPr>
              <a:t>10:00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0000" y="3311999"/>
            <a:ext cx="48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D5DBE6"/>
                </a:solidFill>
                <a:latin typeface="맑은 고딕"/>
              </a:rPr>
              <a:t>판정 시점 — 게임 시작 10분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296000"/>
            <a:ext cx="72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274BDB"/>
                </a:solidFill>
                <a:latin typeface="맑은 고딕"/>
              </a:rPr>
              <a:t>ML 프로젝트 포트폴리오 · 2026.08 – 09 · 4인 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655999"/>
            <a:ext cx="936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900" b="1">
                <a:solidFill>
                  <a:srgbClr val="1A202C"/>
                </a:solidFill>
                <a:latin typeface="맑은 고딕"/>
              </a:rPr>
              <a:t>LoL 경기는 언제
승부가 결정되는가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311999"/>
            <a:ext cx="972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50" b="0">
                <a:solidFill>
                  <a:srgbClr val="1A202C"/>
                </a:solidFill>
                <a:latin typeface="맑은 고딕"/>
              </a:rPr>
              <a:t>게임 10분 시점의 팀 지표 13개로 승패를 판정하고 </a:t>
            </a:r>
            <a:r>
              <a:rPr sz="1450" b="1">
                <a:solidFill>
                  <a:srgbClr val="274BDB"/>
                </a:solidFill>
                <a:latin typeface="맑은 고딕"/>
              </a:rPr>
              <a:t>왜</a:t>
            </a:r>
            <a:r>
              <a:rPr sz="1450" b="0">
                <a:solidFill>
                  <a:srgbClr val="1A202C"/>
                </a:solidFill>
                <a:latin typeface="맑은 고딕"/>
              </a:rPr>
              <a:t>까지 설명하는 서비스.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50" b="0">
                <a:solidFill>
                  <a:srgbClr val="1A202C"/>
                </a:solidFill>
                <a:latin typeface="맑은 고딕"/>
              </a:rPr>
              <a:t>로지스틱 회귀 하나로 정확도 0.7366 — 찍기 대비 +23.6%p.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4392000"/>
            <a:ext cx="2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0.7366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4752000"/>
            <a:ext cx="208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판정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0" y="4392000"/>
            <a:ext cx="2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4탭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4000" y="4752000"/>
            <a:ext cx="208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과정 기간 공개 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6000" y="4392000"/>
            <a:ext cx="2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21항목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6000" y="4752000"/>
            <a:ext cx="208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자동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5238000"/>
            <a:ext cx="306000" cy="252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5400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98A2B3"/>
                </a:solidFill>
                <a:latin typeface="맑은 고딕"/>
              </a:rPr>
              <a:t>담당  </a:t>
            </a:r>
            <a:r>
              <a:rPr sz="1100" b="1">
                <a:solidFill>
                  <a:srgbClr val="1A202C"/>
                </a:solidFill>
                <a:latin typeface="맑은 고딕"/>
              </a:rPr>
              <a:t>데이터 분석 · 모델링 · 검증 체계 · 서비스 기능 (이제민)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98A2B3"/>
                </a:solidFill>
                <a:latin typeface="맑은 고딕"/>
              </a:rPr>
              <a:t>GitHub  </a:t>
            </a:r>
            <a:r>
              <a:rPr sz="1100" b="1">
                <a:solidFill>
                  <a:srgbClr val="1A202C"/>
                </a:solidFill>
                <a:latin typeface="맑은 고딕"/>
              </a:rPr>
              <a:t>github.com/wpalswpa/lol-win-prediction</a:t>
            </a:r>
            <a:r>
              <a:rPr sz="1050" b="0">
                <a:solidFill>
                  <a:srgbClr val="98A2B3"/>
                </a:solidFill>
                <a:latin typeface="맑은 고딕"/>
              </a:rPr>
              <a:t>      로컬 실행  </a:t>
            </a:r>
            <a:r>
              <a:rPr sz="1100" b="1">
                <a:solidFill>
                  <a:srgbClr val="1A202C"/>
                </a:solidFill>
                <a:latin typeface="맑은 고딕"/>
              </a:rPr>
              <a:t>predict.py</a:t>
            </a:r>
            <a:r>
              <a:rPr sz="1200" b="0">
                <a:solidFill>
                  <a:srgbClr val="1A202C"/>
                </a:solidFill>
                <a:latin typeface="맑은 고딕"/>
              </a:rPr>
              <a:t>      </a:t>
            </a:r>
            <a:r>
              <a:rPr sz="1050" b="0">
                <a:solidFill>
                  <a:srgbClr val="667085"/>
                </a:solidFill>
                <a:latin typeface="맑은 고딕"/>
              </a:rPr>
              <a:t>Python · scikit-learn · Flask · MariaDB · Riot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한눈에 — 문제 · 접근 · 결과 · 내 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1620000"/>
            <a:ext cx="5178060" cy="1458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1620000"/>
            <a:ext cx="57600" cy="145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2000" y="1782000"/>
            <a:ext cx="471006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74BDB"/>
                </a:solidFill>
                <a:latin typeface="맑은 고딕"/>
              </a:rPr>
              <a:t>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" y="2070000"/>
            <a:ext cx="471006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>전적 사이트는 결과만 보여준다. "언제 갈렸고, 무엇을 했어야 했나"는 아무도 말해주지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000" y="2772000"/>
            <a:ext cx="471006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Kaggle 다이아 랭크 9,879판 · 10분 시점 지표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2060" y="1620000"/>
            <a:ext cx="5178060" cy="1458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2060" y="1620000"/>
            <a:ext cx="57600" cy="145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060" y="1782000"/>
            <a:ext cx="471006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74BDB"/>
                </a:solidFill>
                <a:latin typeface="맑은 고딕"/>
              </a:rPr>
              <a:t>접근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2070000"/>
            <a:ext cx="471006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>설명 가능한 모델(로지스틱)을 고르고, 계수를 그대로 화면의 '이유'로 쓴다. 분할을 별도 단계로 두고 봉인.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060" y="2772000"/>
            <a:ext cx="471006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후보 8종 비교 · 13개 차이 피처 · Pipeline 한 덩어리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3293999"/>
            <a:ext cx="5178060" cy="1458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00" y="3293999"/>
            <a:ext cx="57600" cy="145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2000" y="3455999"/>
            <a:ext cx="471006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74BDB"/>
                </a:solidFill>
                <a:latin typeface="맑은 고딕"/>
              </a:rPr>
              <a:t>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000" y="3743999"/>
            <a:ext cx="471006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>정확도 0.7366 (10회 평균) · 승리요인 골드 &gt; 경험치 &gt; 드래곤. 접전(34%)은 0.615 — 정보의 한계로 공개.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2000" y="4446000"/>
            <a:ext cx="471006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AUC 0.8150 · Brier 0.1756 · 티어 차이 확인되지 않음(p=0.407)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2060" y="3293999"/>
            <a:ext cx="5178060" cy="1458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060" y="3293999"/>
            <a:ext cx="57600" cy="145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060" y="3455999"/>
            <a:ext cx="471006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74BDB"/>
                </a:solidFill>
                <a:latin typeface="맑은 고딕"/>
              </a:rPr>
              <a:t>내 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060" y="3743999"/>
            <a:ext cx="471006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맑은 고딕"/>
              </a:rPr>
              <a:t>분석·모델링·검증 체계 전부, 그리고 9/2 부터 서비스 기능(판정·코칭·성향·랭킹·승부예측) 구현.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060" y="4446000"/>
            <a:ext cx="471006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lolwin 패키지 · 자동 검증 21항목 · 문서 12종 · 라이브 운영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000" y="4986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98A2B3"/>
                </a:solidFill>
                <a:latin typeface="맑은 고딕"/>
              </a:rPr>
              <a:t>이 프로젝트에서 보여주고 싶은 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000" y="5184000"/>
            <a:ext cx="3416039" cy="52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0" y="5263200"/>
            <a:ext cx="104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74BDB"/>
                </a:solidFill>
                <a:latin typeface="맑은 고딕"/>
              </a:rPr>
              <a:t>원인 증명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0000" y="5284800"/>
            <a:ext cx="208403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80" b="0">
                <a:solidFill>
                  <a:srgbClr val="667085"/>
                </a:solidFill>
                <a:latin typeface="맑은 고딕"/>
              </a:rPr>
              <a:t>계수 이상을 파고들어 원인 증명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8040" y="5184000"/>
            <a:ext cx="3416039" cy="52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8040" y="5263200"/>
            <a:ext cx="104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74BDB"/>
                </a:solidFill>
                <a:latin typeface="맑은 고딕"/>
              </a:rPr>
              <a:t>한계 측정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6040" y="5284800"/>
            <a:ext cx="208403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80" b="0">
                <a:solidFill>
                  <a:srgbClr val="667085"/>
                </a:solidFill>
                <a:latin typeface="맑은 고딕"/>
              </a:rPr>
              <a:t>못 맞히는 구간을 실측해 공개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84079" y="5184000"/>
            <a:ext cx="3416039" cy="52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4079" y="5263200"/>
            <a:ext cx="104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74BDB"/>
                </a:solidFill>
                <a:latin typeface="맑은 고딕"/>
              </a:rPr>
              <a:t>자기 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2080" y="5284800"/>
            <a:ext cx="208403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80" b="0">
                <a:solidFill>
                  <a:srgbClr val="667085"/>
                </a:solidFill>
                <a:latin typeface="맑은 고딕"/>
              </a:rPr>
              <a:t>배포 전 21항목 · 틀린 값으로 시험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00" y="5850000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98A2B3"/>
                </a:solidFill>
                <a:latin typeface="맑은 고딕"/>
              </a:rPr>
              <a:t>용어 — 골드: 게임 내 화폐 · CS: 미니언 처치 수 · 접전: 10분 골드차 1,000 미만 · 홀드아웃: 학습에 쓰지 않고 봉인한 시험 데이터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ROLE &amp;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4인 팀에서 내가 맡은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119" y="9432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저장소 커밋 · 문서 · 코드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000" y="1620000"/>
            <a:ext cx="5472000" cy="3456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000" y="1782000"/>
            <a:ext cx="496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274BDB"/>
                </a:solidFill>
                <a:latin typeface="맑은 고딕"/>
              </a:rPr>
              <a:t>담당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4000" y="2106000"/>
            <a:ext cx="15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분석 · 모델링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6000" y="2106000"/>
            <a:ext cx="345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EDA → 분할 봉인 → 8종 비교 → 로지스틱 채택 → 승리요인 · 오류 분석 · 골드 제외 재학습 · PCA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000" y="2689200"/>
            <a:ext cx="15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실험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6000" y="2689200"/>
            <a:ext cx="345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10분 vs 15분 시점 비교(프로 10,656판) · 티어 일반화 실측(아이언~다이아 1,399판 직접 수집)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000" y="3272400"/>
            <a:ext cx="15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검증 체계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6000" y="3272400"/>
            <a:ext cx="345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파리티 · 수치 대조(factcheck) · 회귀 50건 · 계약 테스트 — 배포 전 21항목, 반대 방향 검증 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000" y="3855600"/>
            <a:ext cx="15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라이브러리 · 문서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855600"/>
            <a:ext cx="345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lolwin 패키지(피처 정본 · 예측 · 코칭) · README · model_card · docs 12종 · 노트북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000" y="4438800"/>
            <a:ext cx="15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서비스 기능 (9/2~)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6000" y="4438800"/>
            <a:ext cx="345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  <a:latin typeface="맑은 고딕"/>
              </a:rPr>
              <a:t>판정 4분면 · 코칭 · 분 단위 궤적 · 플레이 성향 레이더 · 라인 기준선 · 랭킹 · 승부예측 · Riot API 예산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2000" y="1655999"/>
            <a:ext cx="484812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A202C"/>
                </a:solidFill>
                <a:latin typeface="맑은 고딕"/>
              </a:rPr>
              <a:t>팀 분담 (정직하게)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2000" y="2015999"/>
            <a:ext cx="68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정상천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2000" y="2015999"/>
            <a:ext cx="412811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팀장 · 발표자료 · 대본 · 리허설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2000" y="2430000"/>
            <a:ext cx="68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박예은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2000" y="2430000"/>
            <a:ext cx="412811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초기 화면(frontend · templates) 골격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2000" y="2844000"/>
            <a:ext cx="68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임의석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2000" y="2844000"/>
            <a:ext cx="412811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초기 백엔드(app.py) · 배포 스크립트 골격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2000" y="3258000"/>
            <a:ext cx="68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274BDB"/>
                </a:solidFill>
                <a:latin typeface="맑은 고딕"/>
              </a:rPr>
              <a:t>이제민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2000" y="3258000"/>
            <a:ext cx="412811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위 다섯 영역 + 9/2 이후 서비스 기능 전부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2000" y="3780000"/>
            <a:ext cx="4848120" cy="129600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8000" y="3924000"/>
            <a:ext cx="441612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50" b="1">
                <a:solidFill>
                  <a:srgbClr val="274BDB"/>
                </a:solidFill>
                <a:latin typeface="맑은 고딕"/>
              </a:rPr>
              <a:t>숫자로 보는 기여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커밋 162 중 151 · 서비스 탭 4개 · 검증 항목 21 · 문서 26개 수치 대조 · 티어 실측 1,399판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5220000"/>
            <a:ext cx="1060812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맑은 고딕"/>
              </a:rPr>
              <a:t>협업 방식  </a:t>
            </a:r>
            <a:r>
              <a:rPr sz="1050" b="0">
                <a:solidFill>
                  <a:srgbClr val="667085"/>
                </a:solidFill>
                <a:latin typeface="맑은 고딕"/>
              </a:rPr>
              <a:t>한 브랜치(team) 공유 · 사람마다 손대는 파일을 갈라 충돌 0 · 검증 통과 후에만 main 스냅샷 · 담당 부재 시 인수 범위를 문서로 남김 (docs/TEAM_WORKFLOW.md)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학습은 한 번, 서비스는 매번 — 잇는 건 2.2KB 파일 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119" y="9432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계산은 predict.py 한 곳 · 웹에 sklearn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565999"/>
            <a:ext cx="36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667085"/>
                </a:solidFill>
                <a:latin typeface="맑은 고딕"/>
              </a:rPr>
              <a:t>① 학습 (한 번 · 사람이 실행)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1800000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915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Kaggle 9,879판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167200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667085"/>
                </a:solidFill>
                <a:latin typeface="맑은 고딕"/>
              </a:rPr>
              <a:t>다이아 랭크 · 10분 스냅샷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6000" y="1998000"/>
            <a:ext cx="251999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8000" y="1800000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000" y="1915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분할 · 봉인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000" y="2167200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667085"/>
                </a:solidFill>
                <a:latin typeface="맑은 고딕"/>
              </a:rPr>
              <a:t>7,903 / 1,976 · 진단 4종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98000"/>
            <a:ext cx="251999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4000" y="1800000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2000" y="1915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13 차이 피처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2000" y="2167200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667085"/>
                </a:solidFill>
                <a:latin typeface="맑은 고딕"/>
              </a:rPr>
              <a:t>38개 중 중복 11개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000" y="1998000"/>
            <a:ext cx="251999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0000" y="1800000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8000" y="1915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로지스틱 회귀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8000" y="2167200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667085"/>
                </a:solidFill>
                <a:latin typeface="맑은 고딕"/>
              </a:rPr>
              <a:t>8종 비교 · 설명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000" y="1998000"/>
            <a:ext cx="251999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6000" y="1800000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4000" y="1915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model.joblib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4000" y="2167200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DDE5FF"/>
                </a:solidFill>
                <a:latin typeface="맑은 고딕"/>
              </a:rPr>
              <a:t>Scaler+모델 Pipeline · 2.2KB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7200" y="2484000"/>
            <a:ext cx="21600" cy="270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06000" y="2743200"/>
            <a:ext cx="4031999" cy="216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95200" y="2743200"/>
            <a:ext cx="21600" cy="342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62000" y="2970000"/>
            <a:ext cx="28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274BDB"/>
                </a:solidFill>
                <a:latin typeface="맑은 고딕"/>
              </a:rP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14000" y="2538000"/>
            <a:ext cx="21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274BDB"/>
                </a:solidFill>
                <a:latin typeface="맑은 고딕"/>
              </a:rPr>
              <a:t>읽기만 — 학습하지 않는다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000" y="2898000"/>
            <a:ext cx="36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667085"/>
                </a:solidFill>
                <a:latin typeface="맑은 고딕"/>
              </a:rPr>
              <a:t>② 서비스 (매번 · 사용자 요청)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000" y="3131999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000" y="3247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Riot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000" y="3499199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667085"/>
                </a:solidFill>
                <a:latin typeface="맑은 고딕"/>
              </a:rPr>
              <a:t>최근 경기 · 10분 프레임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56000" y="3330000"/>
            <a:ext cx="251999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08000" y="3131999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000" y="3247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13 피처 추출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6000" y="3499199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667085"/>
                </a:solidFill>
                <a:latin typeface="맑은 고딕"/>
              </a:rPr>
              <a:t>학습과 같은 정의 · 단일 정본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330000"/>
            <a:ext cx="251999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24000" y="3131999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2000" y="3247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predict.py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2000" y="3499199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DDE5FF"/>
                </a:solidFill>
                <a:latin typeface="맑은 고딕"/>
              </a:rPr>
              <a:t>확률 · 요인 5 · 범위 경고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8000" y="3330000"/>
            <a:ext cx="251999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40000" y="3131999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8000" y="3247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판정 · 코칭 · 성향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8000" y="3499199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667085"/>
                </a:solidFill>
                <a:latin typeface="맑은 고딕"/>
              </a:rPr>
              <a:t>4분면 · 반사실 · 레이더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04000" y="3330000"/>
            <a:ext cx="251999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98A2B3"/>
                </a:solidFill>
                <a:latin typeface="맑은 고딕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56000" y="3131999"/>
            <a:ext cx="1764000" cy="6840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4000" y="3247200"/>
            <a:ext cx="15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Flask 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4000" y="3499199"/>
            <a:ext cx="15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667085"/>
                </a:solidFill>
                <a:latin typeface="맑은 고딕"/>
              </a:rPr>
              <a:t>탭 4개 · 5분 캐시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2000" y="4140000"/>
            <a:ext cx="3392039" cy="14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0000" y="4284000"/>
            <a:ext cx="299604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74BDB"/>
                </a:solidFill>
                <a:latin typeface="맑은 고딕"/>
              </a:rPr>
              <a:t>계산은 한 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0000" y="4536000"/>
            <a:ext cx="299604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예측 로직은 predict.py 에만. 화면·문서는 결과를 빌려 쓴다 → 화면 확률과 모델 확률이 어긋날 길이 없다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00039" y="4140000"/>
            <a:ext cx="3392039" cy="14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98040" y="4284000"/>
            <a:ext cx="299604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74BDB"/>
                </a:solidFill>
                <a:latin typeface="맑은 고딕"/>
              </a:rPr>
              <a:t>전처리를 모델과 한 덩어리로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8040" y="4536000"/>
            <a:ext cx="299604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StandardScaler 를 Pipeline 에 넣어 저장. 서비스가 표준화를 다시 구현하지 않는다 → 학습-서비스 괴리 차단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08079" y="4140000"/>
            <a:ext cx="3392039" cy="14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06079" y="4284000"/>
            <a:ext cx="299604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74BDB"/>
                </a:solidFill>
                <a:latin typeface="맑은 고딕"/>
              </a:rPr>
              <a:t>외부 의존은 스냅샷으로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6079" y="4536000"/>
            <a:ext cx="299604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랭킹·챔피언 통계·일정은 배치가 CSV 로 굳히고 서비스는 파일만 읽는다 → 사용자 요청당 외부 호출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CHALLENGE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"킬을 하면 진다"는 계수 — 버그가 아니라 단서였다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119" y="9432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다중공선성 진단 → 검증 → 설계 반영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612799"/>
            <a:ext cx="5702400" cy="321429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2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5616000" cy="31278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000" y="4945898"/>
            <a:ext cx="561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모델이 배운 가중치 13개 — 킬·미니언·어시스트·타워가 음수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75999" y="1745999"/>
            <a:ext cx="198000" cy="3240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17999" y="1674000"/>
            <a:ext cx="4182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D64550"/>
                </a:solidFill>
                <a:latin typeface="맑은 고딕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7999" y="1890000"/>
            <a:ext cx="4182120" cy="713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5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골드가 1위인 건 예상대로. 그런데 </a:t>
            </a:r>
            <a:r>
              <a:rPr sz="1150" b="1">
                <a:solidFill>
                  <a:srgbClr val="D64550"/>
                </a:solidFill>
                <a:latin typeface="맑은 고딕"/>
              </a:rPr>
              <a:t>킬이 음수</a:t>
            </a:r>
            <a:r>
              <a:rPr sz="1150" b="0">
                <a:solidFill>
                  <a:srgbClr val="667085"/>
                </a:solidFill>
                <a:latin typeface="맑은 고딕"/>
              </a:rPr>
              <a:t> — 킬만 따로 보면 판별력 3위인 지표가 '하면 불리하다'고 나왔다.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5999" y="2837027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17999" y="2765027"/>
            <a:ext cx="4182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7999" y="2981027"/>
            <a:ext cx="4182120" cy="11163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5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상관을 보니 성장 지표 6개가 0.9로 얽혀 있었다(킬↔골드 0.92). 골드를 이미 본 모델에게 킬은 새 정보가 아니다 — </a:t>
            </a:r>
            <a:r>
              <a:rPr sz="1150" b="1">
                <a:solidFill>
                  <a:srgbClr val="1A202C"/>
                </a:solidFill>
                <a:latin typeface="맑은 고딕"/>
              </a:rPr>
              <a:t>골드를 빼고 재학습해 검증</a:t>
            </a:r>
            <a:r>
              <a:rPr sz="1150" b="0">
                <a:solidFill>
                  <a:srgbClr val="667085"/>
                </a:solidFill>
                <a:latin typeface="맑은 고딕"/>
              </a:rPr>
              <a:t>, PCA 로 재확인(PC1 39% · 주성분 1개만 써도 0.7282).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75999" y="4331407"/>
            <a:ext cx="198000" cy="32400"/>
          </a:xfrm>
          <a:prstGeom prst="rect">
            <a:avLst/>
          </a:prstGeom>
          <a:solidFill>
            <a:srgbClr val="2F9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7999" y="4259407"/>
            <a:ext cx="4182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F9E5E"/>
                </a:solidFill>
                <a:latin typeface="맑은 고딕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7999" y="4475407"/>
            <a:ext cx="4182120" cy="914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5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음수 5개가 전부 양수로, 정확도는 </a:t>
            </a:r>
            <a:r>
              <a:rPr sz="1150" b="1">
                <a:solidFill>
                  <a:srgbClr val="1A202C"/>
                </a:solidFill>
                <a:latin typeface="맑은 고딕"/>
              </a:rPr>
              <a:t>−0.002</a:t>
            </a:r>
            <a:r>
              <a:rPr sz="1150" b="0">
                <a:solidFill>
                  <a:srgbClr val="667085"/>
                </a:solidFill>
                <a:latin typeface="맑은 고딕"/>
              </a:rPr>
              <a:t>. 이 발견이 서비스 코칭 설계가 됐다 — 계수를 그대로 쓰면 "CS 를 먹지 마라"가 되므로 따라오는 골드까지 함께 계산한다.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CHALLENGE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접전은 못 맞힌다 — 숨기는 대신 설계로 옮겼다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119" y="9432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구간별 정확도 · 2단계 실측 · 시점 실험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612799"/>
            <a:ext cx="5702400" cy="321429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3_accuracy_by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5616000" cy="31278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000" y="4945898"/>
            <a:ext cx="561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골드차 구간별 정확도 — 같은 모델인데 33%p 차이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75999" y="1745999"/>
            <a:ext cx="198000" cy="3240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17999" y="1674000"/>
            <a:ext cx="4182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D64550"/>
                </a:solidFill>
                <a:latin typeface="맑은 고딕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7999" y="1890000"/>
            <a:ext cx="4182120" cy="713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5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골드차 1천 미만 접전(34%)은 </a:t>
            </a:r>
            <a:r>
              <a:rPr sz="1150" b="1">
                <a:solidFill>
                  <a:srgbClr val="D64550"/>
                </a:solidFill>
                <a:latin typeface="맑은 고딕"/>
              </a:rPr>
              <a:t>0.615</a:t>
            </a:r>
            <a:r>
              <a:rPr sz="1150" b="0">
                <a:solidFill>
                  <a:srgbClr val="667085"/>
                </a:solidFill>
                <a:latin typeface="맑은 고딕"/>
              </a:rPr>
              <a:t>, 4.2천 이상은 0.947. 접전 구간의 실제 승률이 49.5% — 10분 데이터에 단서가 없다.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5999" y="2837027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17999" y="2765027"/>
            <a:ext cx="4182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7999" y="2981027"/>
            <a:ext cx="4182120" cy="914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5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"모델을 더 키우면?" — 접전만 따로 배우는 2단계 구조 4종을 실측. </a:t>
            </a:r>
            <a:r>
              <a:rPr sz="1150" b="1">
                <a:solidFill>
                  <a:srgbClr val="1A202C"/>
                </a:solidFill>
                <a:latin typeface="맑은 고딕"/>
              </a:rPr>
              <a:t>전부 단일 모델보다 나빴다</a:t>
            </a:r>
            <a:r>
              <a:rPr sz="1150" b="0">
                <a:solidFill>
                  <a:srgbClr val="667085"/>
                </a:solidFill>
                <a:latin typeface="맑은 고딕"/>
              </a:rPr>
              <a:t>. 대신 시점을 바꿔 봤다: 프로 경기 10,656판으로 10분 vs 15분.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75999" y="4129731"/>
            <a:ext cx="198000" cy="32400"/>
          </a:xfrm>
          <a:prstGeom prst="rect">
            <a:avLst/>
          </a:prstGeom>
          <a:solidFill>
            <a:srgbClr val="2F9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7999" y="4057731"/>
            <a:ext cx="4182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F9E5E"/>
                </a:solidFill>
                <a:latin typeface="맑은 고딕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7999" y="4273731"/>
            <a:ext cx="4182120" cy="914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5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5분을 더 보면 전체 +5.25%p, 그 이득은 </a:t>
            </a:r>
            <a:r>
              <a:rPr sz="1150" b="1">
                <a:solidFill>
                  <a:srgbClr val="1A202C"/>
                </a:solidFill>
                <a:latin typeface="맑은 고딕"/>
              </a:rPr>
              <a:t>접전에만 +7.8%p</a:t>
            </a:r>
            <a:r>
              <a:rPr sz="1150" b="0">
                <a:solidFill>
                  <a:srgbClr val="667085"/>
                </a:solidFill>
                <a:latin typeface="맑은 고딕"/>
              </a:rPr>
              <a:t> (벌어진 경기는 ±0). 한계를 model_card 에 적고 화면에 "지금은 팽팽해서 자주 틀립니다" 경고를 띄운다.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CHALLENGE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스스로를 검증하는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119" y="9432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배포 전 21항목 · 반대 방향 검증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000" y="1692000"/>
            <a:ext cx="2463029" cy="2124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000" y="1692000"/>
            <a:ext cx="2463029" cy="50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000" y="1925999"/>
            <a:ext cx="206703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74BDB"/>
                </a:solidFill>
                <a:latin typeface="맑은 고딕"/>
              </a:rPr>
              <a:t>파리티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000" y="2286000"/>
            <a:ext cx="206703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손계산 = 모델 = 라이브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000" y="2880000"/>
            <a:ext cx="206703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0.818255 가 소수점까지 일치.
자동 테스트로 상시 대조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7030" y="1692000"/>
            <a:ext cx="2463029" cy="2124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7030" y="1692000"/>
            <a:ext cx="2463029" cy="50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5030" y="1925999"/>
            <a:ext cx="206703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74BDB"/>
                </a:solidFill>
                <a:latin typeface="맑은 고딕"/>
              </a:rPr>
              <a:t>수치 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5030" y="2286000"/>
            <a:ext cx="206703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문서 26개 ↔ 근거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5030" y="2880000"/>
            <a:ext cx="206703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본문 속 모든 수치를 기계로 검증.
현재 어긋남 0건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2060" y="1692000"/>
            <a:ext cx="2463029" cy="2124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060" y="1692000"/>
            <a:ext cx="2463029" cy="50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0060" y="1925999"/>
            <a:ext cx="206703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74BDB"/>
                </a:solidFill>
                <a:latin typeface="맑은 고딕"/>
              </a:rPr>
              <a:t>회귀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0060" y="2286000"/>
            <a:ext cx="206703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예측 50건 골든 정답지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0060" y="2880000"/>
            <a:ext cx="206703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모델·피처가 바뀌어 결과가
달라지면 즉시 실패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7089" y="1692000"/>
            <a:ext cx="2463029" cy="2124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7089" y="1692000"/>
            <a:ext cx="2463029" cy="50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5090" y="1925999"/>
            <a:ext cx="206703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74BDB"/>
                </a:solidFill>
                <a:latin typeface="맑은 고딕"/>
              </a:rPr>
              <a:t>계약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5090" y="2286000"/>
            <a:ext cx="206703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API 응답 ↔ 명세(serving.md)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5090" y="2880000"/>
            <a:ext cx="206703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필드·개수·타입 검사.
PUUID 유출 검사 포함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4194000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4000" y="4122000"/>
            <a:ext cx="10266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4000" y="4338000"/>
            <a:ext cx="10266120" cy="30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5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새 검증 규칙은 틀린 값을 넣어 "실제로 잡히는지" 반대 방향으로 확인한다. </a:t>
            </a:r>
            <a:r>
              <a:rPr sz="1150" b="0">
                <a:solidFill>
                  <a:srgbClr val="667085"/>
                </a:solidFill>
                <a:latin typeface="맑은 고딕"/>
              </a:rPr>
              <a:t>아무것도 못 잡는 규칙을 두 번 만든 뒤 세운 원칙.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000" y="4881675"/>
            <a:ext cx="198000" cy="32400"/>
          </a:xfrm>
          <a:prstGeom prst="rect">
            <a:avLst/>
          </a:prstGeom>
          <a:solidFill>
            <a:srgbClr val="2F9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4000" y="4809675"/>
            <a:ext cx="10266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F9E5E"/>
                </a:solidFill>
                <a:latin typeface="맑은 고딕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4000" y="5025675"/>
            <a:ext cx="10266120" cy="511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5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이 체계로 배포 전 회귀 세 건을 잡았다 — </a:t>
            </a:r>
            <a:r>
              <a:rPr sz="1150" b="1">
                <a:solidFill>
                  <a:srgbClr val="1A202C"/>
                </a:solidFill>
                <a:latin typeface="맑은 고딕"/>
              </a:rPr>
              <a:t>화면 전체 먹통(선언 블록 스코프) · 태그 "0223" 이 숫자로 변환돼 링크 사망 · 그리드 칸 밀림.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CHALLENGE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운영에서 만난 문제 4건 — 증상이 아니라 원인을 고쳤다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119" y="9432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라이브 서비스 · 9/2 이후 단독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000" y="1638000"/>
            <a:ext cx="208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274BDB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6000" y="1638000"/>
            <a:ext cx="2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274BDB"/>
                </a:solidFill>
                <a:latin typeface="맑은 고딕"/>
              </a:rPr>
              <a:t>원인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2000" y="16380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274BDB"/>
                </a:solidFill>
                <a:latin typeface="맑은 고딕"/>
              </a:rPr>
              <a:t>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8000" y="1638000"/>
            <a:ext cx="25081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274BDB"/>
                </a:solidFill>
                <a:latin typeface="맑은 고딕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1853999"/>
            <a:ext cx="10608120" cy="1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2000" y="1879200"/>
            <a:ext cx="10608120" cy="835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00" y="1980000"/>
            <a:ext cx="2052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1">
                <a:solidFill>
                  <a:srgbClr val="1A202C"/>
                </a:solidFill>
                <a:latin typeface="맑은 고딕"/>
              </a:rPr>
              <a:t>검색 한 번에 3.1초. 동시 접속하면 Riot 예산이 바닥난다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6000" y="1980000"/>
            <a:ext cx="2520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사용자 요청마다 Riot API 를 새로 호출. 같은 소환사를 다시 봐도 전부 재호출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2000" y="1980000"/>
            <a:ext cx="2700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1A202C"/>
                </a:solidFill>
                <a:latin typeface="맑은 고딕"/>
              </a:rPr>
              <a:t>소환사 단위 5분 캐시(_SUMMONER_CACHE, 200건 상한·만료 정리)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8000" y="1980000"/>
            <a:ext cx="2472119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1">
                <a:solidFill>
                  <a:srgbClr val="1A202C"/>
                </a:solidFill>
                <a:latin typeface="맑은 고딕"/>
              </a:rPr>
              <a:t>3.1s → 0.02s</a:t>
            </a:r>
            <a:r>
              <a:rPr sz="1019" b="0">
                <a:solidFill>
                  <a:srgbClr val="667085"/>
                </a:solidFill>
                <a:latin typeface="맑은 고딕"/>
              </a:rPr>
              <a:t> · 재조회는 외부 호출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00" y="2851200"/>
            <a:ext cx="2052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1">
                <a:solidFill>
                  <a:srgbClr val="1A202C"/>
                </a:solidFill>
                <a:latin typeface="맑은 고딕"/>
              </a:rPr>
              <a:t>새벽 수집기가 돌면 라이브 검색이 429 로 죽는다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6000" y="2851200"/>
            <a:ext cx="2520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수집기와 서비스가 같은 키의 예산(100회 / 120초)을 나눠 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2000" y="2851200"/>
            <a:ext cx="2700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1A202C"/>
                </a:solidFill>
                <a:latin typeface="맑은 고딕"/>
              </a:rPr>
              <a:t>응답 헤더의 사용량(LAST_APP_COUNT)을 읽어 70을 넘으면 수집기가 20초씩 쉰다(RESERVE)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8000" y="2851200"/>
            <a:ext cx="2472119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1">
                <a:solidFill>
                  <a:srgbClr val="1A202C"/>
                </a:solidFill>
                <a:latin typeface="맑은 고딕"/>
              </a:rPr>
              <a:t>사용자 몫 30 상시 확보</a:t>
            </a:r>
            <a:r>
              <a:rPr sz="1019" b="0">
                <a:solidFill>
                  <a:srgbClr val="667085"/>
                </a:solidFill>
                <a:latin typeface="맑은 고딕"/>
              </a:rPr>
              <a:t> · 밤샘 수집 중에도 검색 정상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000" y="3621600"/>
            <a:ext cx="10608120" cy="835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00" y="3722400"/>
            <a:ext cx="2052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1">
                <a:solidFill>
                  <a:srgbClr val="1A202C"/>
                </a:solidFill>
                <a:latin typeface="맑은 고딕"/>
              </a:rPr>
              <a:t>배포했는데 화면이 그대로다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6000" y="3722400"/>
            <a:ext cx="2520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HTML 응답에 캐시 헤더가 없어 브라우저가 옛 화면을 계속 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2000" y="3722400"/>
            <a:ext cx="2700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1A202C"/>
                </a:solidFill>
                <a:latin typeface="맑은 고딕"/>
              </a:rPr>
              <a:t>text/html 응답에 Cache-Control: no-store 부착(after_request 한 곳)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8000" y="3722400"/>
            <a:ext cx="2472119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1">
                <a:solidFill>
                  <a:srgbClr val="1A202C"/>
                </a:solidFill>
                <a:latin typeface="맑은 고딕"/>
              </a:rPr>
              <a:t>배포 즉시 반영</a:t>
            </a:r>
            <a:r>
              <a:rPr sz="1019" b="0">
                <a:solidFill>
                  <a:srgbClr val="667085"/>
                </a:solidFill>
                <a:latin typeface="맑은 고딕"/>
              </a:rPr>
              <a:t> · 로컬 = 라이브 바이트 동일 확인을 배포 절차에 추가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00" y="4593600"/>
            <a:ext cx="2052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1">
                <a:solidFill>
                  <a:srgbClr val="1A202C"/>
                </a:solidFill>
                <a:latin typeface="맑은 고딕"/>
              </a:rPr>
              <a:t>태그 "0223" 유저 링크가 죽고, 19자리 경기 ID 끝자리가 바뀐다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6000" y="4593600"/>
            <a:ext cx="2520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CSV → JSON 변환이 숫자처럼 보이는 열을 전부 숫자로 바꿈. JS 안전 정수(2^53) 초과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2000" y="4593600"/>
            <a:ext cx="2700000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1A202C"/>
                </a:solidFill>
                <a:latin typeface="맑은 고딕"/>
              </a:rPr>
              <a:t>문자열로 남길 열을 명시(TEXT_COLUMNS) + 계약 테스트에 타입 검사 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8000" y="4593600"/>
            <a:ext cx="2472119" cy="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1">
                <a:solidFill>
                  <a:srgbClr val="1A202C"/>
                </a:solidFill>
                <a:latin typeface="맑은 고딕"/>
              </a:rPr>
              <a:t>같은 부류 재발 차단</a:t>
            </a:r>
            <a:r>
              <a:rPr sz="1019" b="0">
                <a:solidFill>
                  <a:srgbClr val="667085"/>
                </a:solidFill>
                <a:latin typeface="맑은 고딕"/>
              </a:rPr>
              <a:t> · 배포 전 자동 검증 21항목에 편입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000" y="5410800"/>
            <a:ext cx="10608120" cy="108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000" y="5554800"/>
            <a:ext cx="106081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맑은 고딕"/>
              </a:rPr>
              <a:t>공통점 — </a:t>
            </a:r>
            <a:r>
              <a:rPr sz="1050" b="0">
                <a:solidFill>
                  <a:srgbClr val="667085"/>
                </a:solidFill>
                <a:latin typeface="맑은 고딕"/>
              </a:rPr>
              <a:t>증상을 덮는 대신 원인을 찾았고, 고친 뒤에는 같은 부류가 다시 오면 테스트가 먼저 잡도록 했다. 네 건 모두 재현 절차와 함께 docs/ 에 기록.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왜 로지스틱인가, 그리고 얼마나 맞히나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119" y="9432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홀드아웃 1,976판 · 분할 10회 반복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612799"/>
            <a:ext cx="5702400" cy="349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del_choice_1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5616000" cy="34112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000" y="5211239"/>
            <a:ext cx="561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후보 8종 교차검증 — 1위와 2위가 0.003 차이, 점수로는 못 고른다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찍기 기준선은 재는 자리마다 다르다 — 그래프 0.5009 는 교차검증, 오른쪽 표 0.5010 은 홀드아웃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5999" y="1692000"/>
            <a:ext cx="4524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A202C"/>
                </a:solidFill>
                <a:latin typeface="맑은 고딕"/>
              </a:rPr>
              <a:t>선정 기준 — 점수 대신 두 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5999" y="1944000"/>
            <a:ext cx="452412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① 외웠는가 </a:t>
            </a:r>
            <a:r>
              <a:rPr sz="1100" b="0">
                <a:solidFill>
                  <a:srgbClr val="667085"/>
                </a:solidFill>
                <a:latin typeface="맑은 고딕"/>
              </a:rPr>
              <a:t>— 연습·검증 격차. 복잡한 모델일수록 크게 벌어졌다.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② 왜를 말할 수 있는가 </a:t>
            </a:r>
            <a:r>
              <a:rPr sz="1100" b="0">
                <a:solidFill>
                  <a:srgbClr val="667085"/>
                </a:solidFill>
                <a:latin typeface="맑은 고딕"/>
              </a:rPr>
              <a:t>— 랜덤포레스트는 중요도는 말해도 방향(+/−)을 못 말한다.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5999" y="2790000"/>
            <a:ext cx="4524120" cy="180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5999" y="2840400"/>
            <a:ext cx="151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대표 정확도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7999" y="2840400"/>
            <a:ext cx="1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0.7366 ± 0.0081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4000" y="2840400"/>
            <a:ext cx="1176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분할 10회 반복 평균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75999" y="3063600"/>
            <a:ext cx="4524120" cy="108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5999" y="3114000"/>
            <a:ext cx="151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단일 홀드아웃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7999" y="3114000"/>
            <a:ext cx="1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0.7394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4000" y="3114000"/>
            <a:ext cx="1176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시드 42 · 찍기 0.5010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75999" y="3337200"/>
            <a:ext cx="4524120" cy="108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5999" y="3387600"/>
            <a:ext cx="151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7999" y="3387600"/>
            <a:ext cx="1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0.8150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4000" y="3387600"/>
            <a:ext cx="1176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순위 능력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5999" y="3610800"/>
            <a:ext cx="4524120" cy="108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5999" y="3661200"/>
            <a:ext cx="151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F1 / Brier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7999" y="3661200"/>
            <a:ext cx="1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0.7352 / 0.1756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0" y="3661200"/>
            <a:ext cx="1176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쏠림 · 확률 정확도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75999" y="3884399"/>
            <a:ext cx="4524120" cy="108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3934800"/>
            <a:ext cx="151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맑은 고딕"/>
              </a:rPr>
              <a:t>교차검증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7999" y="3934800"/>
            <a:ext cx="1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0.7315 ± 0.0153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4000" y="3934800"/>
            <a:ext cx="1176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5-fold · 격차 +0.0022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75999" y="4157999"/>
            <a:ext cx="4524120" cy="108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5999" y="4338000"/>
            <a:ext cx="452412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맑은 고딕"/>
              </a:rPr>
              <a:t>일반화 — </a:t>
            </a:r>
            <a:r>
              <a:rPr sz="1050" b="0">
                <a:solidFill>
                  <a:srgbClr val="667085"/>
                </a:solidFill>
                <a:latin typeface="맑은 고딕"/>
              </a:rPr>
              <a:t>2026년 아이언~다이아 1,399판을 직접 수집해 채점: 저티어 0.685 vs 고티어 0.707, p=0.407. "차이가 없다"가 아니라 "큰 차이는 확인되지 않았다"까지만 적었다(티어당 150~312판).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1060812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46000"/>
            <a:ext cx="772812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모델이 화면이 되기까지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0119" y="9432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98A2B3"/>
                </a:solidFill>
                <a:latin typeface="맑은 고딕"/>
              </a:rPr>
              <a:t>탭 4개 · 2026.09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00" y="1558800"/>
            <a:ext cx="6274246" cy="401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vc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02000"/>
            <a:ext cx="6187846" cy="392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5846" y="1692000"/>
            <a:ext cx="4024273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판정 4분면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5846" y="1890000"/>
            <a:ext cx="402427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10분 확률(앞섬/밀림) × 실제 결과(승/패) = 우세승·역전승·역전패·열세패. 같은 패배라도 처방이 다르다.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5846" y="2466000"/>
            <a:ext cx="4024273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코칭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5846" y="2664000"/>
            <a:ext cx="402427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"드래곤 하나 더였다면" — 반사실 계산. 관찰 기록이지 인과 증명이 아님을 화면에 명시.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5846" y="3240000"/>
            <a:ext cx="4024273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플레이 성향 레이더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5846" y="3438000"/>
            <a:ext cx="402427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다섯 축 백분위(교전·라인·정글·오브젝트·시야). 축끼리 상관 최대 0.13 이 되도록 데이터로 선정.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5846" y="4014000"/>
            <a:ext cx="4024273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라인 기준선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5846" y="4212000"/>
            <a:ext cx="402427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같은 판의 라인 상대 = 같은 티어 표본. "내 티어가 거품인가"를 별도 수집 없이 잰다.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5846" y="4788000"/>
            <a:ext cx="4024273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5846" y="4986000"/>
            <a:ext cx="402427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400"/>
              </a:spcAft>
            </a:pPr>
            <a:r>
              <a:rPr sz="1019" b="0">
                <a:solidFill>
                  <a:srgbClr val="667085"/>
                </a:solidFill>
                <a:latin typeface="맑은 고딕"/>
              </a:rPr>
              <a:t>Riot API 예산 100/120초 — 수집기는 30만 쓰고 양보. 5분 캐시로 동시 접속 시 외부 호출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413999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74BDB"/>
                </a:solidFill>
                <a:latin typeface="맑은 고딕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737999"/>
            <a:ext cx="306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846000"/>
            <a:ext cx="79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1A202C"/>
                </a:solidFill>
                <a:latin typeface="맑은 고딕"/>
              </a:rPr>
              <a:t>배운 것, 그리고 다음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735200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000" y="1627200"/>
            <a:ext cx="68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A202C"/>
                </a:solidFill>
                <a:latin typeface="맑은 고딕"/>
              </a:rPr>
              <a:t>이상한 숫자는 버그가 아니라 단서다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1926000"/>
            <a:ext cx="68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킬 계수가 음수로 나왔을 때 모델을 의심하는 대신 데이터 구조를 진단했고, 그 발견이 서비스 설계까지 이어졌다.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000" y="2617200"/>
            <a:ext cx="68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A202C"/>
                </a:solidFill>
                <a:latin typeface="맑은 고딕"/>
              </a:rPr>
              <a:t>한계는 숨기는 게 아니라 측정하는 것이다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000" y="2916000"/>
            <a:ext cx="68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접전 0.615 · 티어 p=0.407 · 2단계 4종 열위 — 못 하는 것을 실측해 문서와 화면에 적었다.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715199"/>
            <a:ext cx="198000" cy="32400"/>
          </a:xfrm>
          <a:prstGeom prst="rect">
            <a:avLst/>
          </a:prstGeom>
          <a:solidFill>
            <a:srgbClr val="274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000" y="3607200"/>
            <a:ext cx="68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A202C"/>
                </a:solidFill>
                <a:latin typeface="맑은 고딕"/>
              </a:rPr>
              <a:t>계산은 한 곳에만 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3906000"/>
            <a:ext cx="68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67085"/>
                </a:solidFill>
                <a:latin typeface="맑은 고딕"/>
              </a:rPr>
              <a:t>예측 로직을 predict.py 하나에 두자 화면·문서·테스트가 같은 숫자를 볼 수밖에 없게 됐다.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752000"/>
            <a:ext cx="72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맑은 고딕"/>
              </a:rPr>
              <a:t>다음 — </a:t>
            </a:r>
            <a:r>
              <a:rPr sz="1150" b="0">
                <a:solidFill>
                  <a:srgbClr val="667085"/>
                </a:solidFill>
                <a:latin typeface="맑은 고딕"/>
              </a:rPr>
              <a:t>코칭 조언을 A/B 로 검증해 관찰을 인과로 바꾸는 것. 그때 이 서비스는 '기록'에서 '코치'가 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5328000"/>
            <a:ext cx="306000" cy="25200"/>
          </a:xfrm>
          <a:prstGeom prst="rect">
            <a:avLst/>
          </a:prstGeom>
          <a:solidFill>
            <a:srgbClr val="E4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5490000"/>
            <a:ext cx="79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98A2B3"/>
                </a:solidFill>
                <a:latin typeface="맑은 고딕"/>
              </a:rPr>
              <a:t>GitHub  </a:t>
            </a:r>
            <a:r>
              <a:rPr sz="1150" b="1">
                <a:solidFill>
                  <a:srgbClr val="1A202C"/>
                </a:solidFill>
                <a:latin typeface="맑은 고딕"/>
              </a:rPr>
              <a:t>github.com/wpalswpa/lol-win-prediction</a:t>
            </a:r>
            <a:r>
              <a:rPr sz="1050" b="0">
                <a:solidFill>
                  <a:srgbClr val="98A2B3"/>
                </a:solidFill>
                <a:latin typeface="맑은 고딕"/>
              </a:rPr>
              <a:t>        로컬 실행  </a:t>
            </a:r>
            <a:r>
              <a:rPr sz="1150" b="1">
                <a:solidFill>
                  <a:srgbClr val="1A202C"/>
                </a:solidFill>
                <a:latin typeface="맑은 고딕"/>
              </a:rPr>
              <a:t>predict.py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맑은 고딕"/>
              </a:rPr>
              <a:t>README 에 전체 분석 과정 · docs/ 에 재현 절차 · final/ 에 산출물 6종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6000" y="1764000"/>
            <a:ext cx="25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2100" b="1">
                <a:solidFill>
                  <a:srgbClr val="1A202C"/>
                </a:solidFill>
                <a:latin typeface="맑은 고딕"/>
              </a:rPr>
              <a:t>0.7366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6000" y="21312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판정 정확도 · 10회 평균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6000" y="2538000"/>
            <a:ext cx="25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2100" b="1">
                <a:solidFill>
                  <a:srgbClr val="1A202C"/>
                </a:solidFill>
                <a:latin typeface="맑은 고딕"/>
              </a:rPr>
              <a:t>+23.6%p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6000" y="29052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찍기(0.501)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6000" y="3312000"/>
            <a:ext cx="25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2100" b="1">
                <a:solidFill>
                  <a:srgbClr val="1A202C"/>
                </a:solidFill>
                <a:latin typeface="맑은 고딕"/>
              </a:rPr>
              <a:t>p=0.407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6000" y="36792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티어 차이 — 확인되지 않음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6000" y="4086000"/>
            <a:ext cx="25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2100" b="1">
                <a:solidFill>
                  <a:srgbClr val="1A202C"/>
                </a:solidFill>
                <a:latin typeface="맑은 고딕"/>
              </a:rPr>
              <a:t>21항목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6000" y="44532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98A2B3"/>
                </a:solidFill>
                <a:latin typeface="맑은 고딕"/>
              </a:rPr>
              <a:t>배포 전 자동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" y="6480000"/>
            <a:ext cx="50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LOL.EX — LoL 10분 승패 판정 · 이제민 포트폴리오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80120" y="648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98A2B3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>
  <dc:title/>
  <dc:subject/>
  <ns0:keywords/>
  <dc:description>generated using python-pptx</dc:description>
  <ns0:category/>
</ns0:coreProperties>
</file>